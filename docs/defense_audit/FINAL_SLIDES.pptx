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Adventure Capital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Evaluación financiera reproducible para startups</a:t>
            </a:r>
          </a:p>
          <a:p>
            <a:pPr lvl="0" indent="0" marL="0">
              <a:buNone/>
            </a:pPr>
            <a:r>
              <a:rPr/>
              <a:t>MVP metodológico: optimización de crecimiento, valorización DCF, due diligence y trazabilidad.</a:t>
            </a:r>
          </a:p>
          <a:p>
            <a:pPr lvl="0" indent="0" marL="0">
              <a:buNone/>
            </a:pPr>
            <a:r>
              <a:rPr/>
              <a:t>Alonso Peña · Ingeniería Civil Industrial · PUCV Caso final: </a:t>
            </a:r>
            <a:r>
              <a:rPr>
                <a:latin typeface="Courier"/>
              </a:rPr>
              <a:t>configs/gold/gold-b2b-saas.yaml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Invertir en startups exige decidir con información incompleta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El problema no es calcular: es hacer explícitos los supuestos que sostienen una valorización.</a:t>
            </a:r>
          </a:p>
          <a:p>
            <a:pPr lvl="0"/>
            <a:r>
              <a:rPr/>
              <a:t>Startups: alta incertidumbre, historia corta, datos incompletos.</a:t>
            </a:r>
          </a:p>
          <a:p>
            <a:pPr lvl="0"/>
            <a:r>
              <a:rPr/>
              <a:t>La evaluación mezcla crecimiento, caja, unit economics y salida.</a:t>
            </a:r>
          </a:p>
          <a:p>
            <a:pPr lvl="0"/>
            <a:r>
              <a:rPr/>
              <a:t>Los supuestos quedan dispersos e inauditables.</a:t>
            </a:r>
          </a:p>
          <a:p>
            <a:pPr lvl="0"/>
            <a:r>
              <a:rPr/>
              <a:t>La decisión final es —y debe seguir siendo— humana.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 mandante evaluaba con notebook y Excel: cálculo, narrativa y ejecución mezclados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Método experto: clientes → servicios → ingresos → CAC → costos → EBITDA → EV.</a:t>
            </a:r>
          </a:p>
          <a:p>
            <a:pPr lvl="0"/>
            <a:r>
              <a:rPr/>
              <a:t>Implementación original: Colab + planillas (</a:t>
            </a:r>
            <a:r>
              <a:rPr>
                <a:latin typeface="Courier"/>
              </a:rPr>
              <a:t>legacy/</a:t>
            </a:r>
            <a:r>
              <a:rPr/>
              <a:t>).</a:t>
            </a:r>
          </a:p>
          <a:p>
            <a:pPr lvl="0"/>
            <a:r>
              <a:rPr/>
              <a:t>Imposible separar supuestos, solver, valorización y reporte.</a:t>
            </a:r>
          </a:p>
          <a:p>
            <a:pPr lvl="0"/>
            <a:r>
              <a:rPr/>
              <a:t>Cada métrica era difícil de rastrear a su origen.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Objetivo: MVP metodológico local con límites declarados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Incluido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Fuera de alcance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Pipeline reproducible desde YAML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SaaS productivo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Optimización MILP target-driven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Due diligence legal/comercial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Valorización DCF + unit economics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Comparables de mercado automáticos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DD cuantitativo, robustez M4, reportes, UI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Automatización de la decisión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 metodología es operacionalizable: de supuestos a plan, valor y juicio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YAML → Validación → Instancia → MILP determinista → Valorización → DD → M4 robustez → Artefactos → UI/Reporte</a:t>
            </a:r>
          </a:p>
          <a:p>
            <a:pPr lvl="0"/>
            <a:r>
              <a:rPr/>
              <a:t>YAML declara servicios, costos, canales, inversión y tesis de crecimiento.</a:t>
            </a:r>
          </a:p>
          <a:p>
            <a:pPr lvl="0"/>
            <a:r>
              <a:rPr/>
              <a:t>Preprocesamiento: cohortes, churn, recurrencia, descuento.</a:t>
            </a:r>
          </a:p>
          <a:p>
            <a:pPr lvl="0"/>
            <a:r>
              <a:rPr/>
              <a:t>MILP determinista genera el plan oficial target-driven.</a:t>
            </a:r>
          </a:p>
          <a:p>
            <a:pPr lvl="0"/>
            <a:r>
              <a:rPr/>
              <a:t>Post-solve: DCF, unit economics, due diligence, M4, artefactos.</a:t>
            </a:r>
          </a:p>
          <a:p>
            <a:pPr lvl="0" indent="0" marL="0">
              <a:buNone/>
            </a:pPr>
            <a:r>
              <a:rPr/>
              <a:t>Ver Diagrama 1 en </a:t>
            </a:r>
            <a:r>
              <a:rPr>
                <a:latin typeface="Courier"/>
              </a:rPr>
              <a:t>FINAL_DIAGRAMS.md</a:t>
            </a:r>
            <a:r>
              <a:rPr/>
              <a:t>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 entregable cumple el alcance definido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Objetivo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Artefacto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Lectura defendible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Formalización de datos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config.yaml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artifacts_manifest.json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Supuestos trazables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DD cuantitativo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due_diligence_report.md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reemplaza DD legal/comercial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 de crecimiento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optimized_results.csv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 oficial determinístico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Valorización/unit economics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valuation_summary.json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unit_economics.csv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Trazable a supuestos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Robustez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stochastic_summary.csv</a:t>
                      </a:r>
                      <a:r>
                        <a:rPr/>
                        <a:t> o bloqueo DD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Robustez técnica, no plan oficial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Informe automático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report.html</a:t>
                      </a:r>
                      <a:r>
                        <a:rPr/>
                        <a:t> (PDF si WeasyPrint)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Auditable y descargable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Validación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pytest</a:t>
                      </a:r>
                      <a:r>
                        <a:rPr/>
                        <a:t>: 186 passed, 3 skipped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Reproducibilidad técnica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Arquitectura modular: cálculo, juicio y presentación viven separados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configs/</a:t>
            </a:r>
            <a:r>
              <a:rPr/>
              <a:t> — supuestos versionables (YAML).</a:t>
            </a:r>
          </a:p>
          <a:p>
            <a:pPr lvl="0"/>
            <a:r>
              <a:rPr>
                <a:latin typeface="Courier"/>
              </a:rPr>
              <a:t>src/adventure_capital/</a:t>
            </a:r>
            <a:r>
              <a:rPr/>
              <a:t> — core financiero + MILP + valorización: </a:t>
            </a:r>
            <a:r>
              <a:rPr b="1"/>
              <a:t>fuente de verdad</a:t>
            </a:r>
            <a:r>
              <a:rPr/>
              <a:t>.</a:t>
            </a:r>
          </a:p>
          <a:p>
            <a:pPr lvl="0"/>
            <a:r>
              <a:rPr>
                <a:latin typeface="Courier"/>
              </a:rPr>
              <a:t>due_diligence/</a:t>
            </a:r>
            <a:r>
              <a:rPr/>
              <a:t>, </a:t>
            </a:r>
            <a:r>
              <a:rPr>
                <a:latin typeface="Courier"/>
              </a:rPr>
              <a:t>stochastic/</a:t>
            </a:r>
            <a:r>
              <a:rPr/>
              <a:t> — juicio estructurado y robustez.</a:t>
            </a:r>
          </a:p>
          <a:p>
            <a:pPr lvl="0"/>
            <a:r>
              <a:rPr>
                <a:latin typeface="Courier"/>
              </a:rPr>
              <a:t>standard_report/</a:t>
            </a:r>
            <a:r>
              <a:rPr/>
              <a:t> + Streamlit — presentación que consume artefactos, </a:t>
            </a:r>
            <a:r>
              <a:rPr b="1"/>
              <a:t>nunca recalcula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Ver Diagrama 2 en </a:t>
            </a:r>
            <a:r>
              <a:rPr>
                <a:latin typeface="Courier"/>
              </a:rPr>
              <a:t>FINAL_DIAGRAMS.md</a:t>
            </a:r>
            <a:r>
              <a:rPr/>
              <a:t>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Cada resultado se rastrea de supuesto a artefacto descargable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YAML → instancia congelada (</a:t>
            </a:r>
            <a:r>
              <a:rPr>
                <a:latin typeface="Courier"/>
              </a:rPr>
              <a:t>model_instance.json</a:t>
            </a:r>
            <a:r>
              <a:rPr/>
              <a:t>).</a:t>
            </a:r>
          </a:p>
          <a:p>
            <a:pPr lvl="0"/>
            <a:r>
              <a:rPr/>
              <a:t>Núcleo: plan mensual canónico (</a:t>
            </a:r>
            <a:r>
              <a:rPr>
                <a:latin typeface="Courier"/>
              </a:rPr>
              <a:t>optimized_results.csv</a:t>
            </a:r>
            <a:r>
              <a:rPr/>
              <a:t>).</a:t>
            </a:r>
          </a:p>
          <a:p>
            <a:pPr lvl="0"/>
            <a:r>
              <a:rPr/>
              <a:t>Derivados: </a:t>
            </a:r>
            <a:r>
              <a:rPr>
                <a:latin typeface="Courier"/>
              </a:rPr>
              <a:t>valuation_summary.json</a:t>
            </a:r>
            <a:r>
              <a:rPr/>
              <a:t>, </a:t>
            </a:r>
            <a:r>
              <a:rPr>
                <a:latin typeface="Courier"/>
              </a:rPr>
              <a:t>unit_economics.csv</a:t>
            </a:r>
            <a:r>
              <a:rPr/>
              <a:t>, </a:t>
            </a:r>
            <a:r>
              <a:rPr>
                <a:latin typeface="Courier"/>
              </a:rPr>
              <a:t>due_diligence_report.md</a:t>
            </a:r>
            <a:r>
              <a:rPr/>
              <a:t>.</a:t>
            </a:r>
          </a:p>
          <a:p>
            <a:pPr lvl="0"/>
            <a:r>
              <a:rPr/>
              <a:t>Auditoría: </a:t>
            </a:r>
            <a:r>
              <a:rPr>
                <a:latin typeface="Courier"/>
              </a:rPr>
              <a:t>formula_trace.json</a:t>
            </a:r>
            <a:r>
              <a:rPr/>
              <a:t> + </a:t>
            </a:r>
            <a:r>
              <a:rPr>
                <a:latin typeface="Courier"/>
              </a:rPr>
              <a:t>artifacts_manifest.json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Ver Diagrama 3 en </a:t>
            </a:r>
            <a:r>
              <a:rPr>
                <a:latin typeface="Courier"/>
              </a:rPr>
              <a:t>FINAL_DIAGRAMS.md</a:t>
            </a:r>
            <a:r>
              <a:rPr/>
              <a:t>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 tesis de inversión fija el crecimiento; el optimizador busca ejecución eficiente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Tesis por defecto: </a:t>
            </a:r>
            <a:r>
              <a:rPr b="1"/>
              <a:t>C36 ≥ 3·C12</a:t>
            </a:r>
            <a:r>
              <a:rPr/>
              <a:t> (triplicar stock entre mes 12 y 36).</a:t>
            </a:r>
          </a:p>
          <a:p>
            <a:pPr lvl="0"/>
            <a:r>
              <a:rPr>
                <a:latin typeface="Courier"/>
              </a:rPr>
              <a:t>growth_commitment</a:t>
            </a:r>
            <a:r>
              <a:rPr/>
              <a:t> es piso; </a:t>
            </a:r>
            <a:r>
              <a:rPr>
                <a:latin typeface="Courier"/>
              </a:rPr>
              <a:t>acquisition_envelope</a:t>
            </a:r>
            <a:r>
              <a:rPr/>
              <a:t> acota el camino con slack declarado.</a:t>
            </a:r>
          </a:p>
          <a:p>
            <a:pPr lvl="0"/>
            <a:r>
              <a:rPr/>
              <a:t>VAN y MoM son consecuencias del plan, no parámetros calibrados.</a:t>
            </a:r>
          </a:p>
          <a:p>
            <a:pPr lvl="0"/>
            <a:r>
              <a:rPr/>
              <a:t>Infeasible = diagnóstico de negocio, no bug.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Due diligence actúa como gate: decide si los resultados merecen interpretarse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Evalúa inputs, outputs deterministas, calibración y liquidez.</a:t>
            </a:r>
          </a:p>
          <a:p>
            <a:pPr lvl="0"/>
            <a:r>
              <a:rPr/>
              <a:t>Veredictos graduados: passed → warnings → minor/major adjustment → rejected_for_stochastic.</a:t>
            </a:r>
          </a:p>
          <a:p>
            <a:pPr lvl="0"/>
            <a:r>
              <a:rPr/>
              <a:t>El veredicto habilita o bloquea M4 y condiciona la lectura de la valorización.</a:t>
            </a:r>
          </a:p>
          <a:p>
            <a:pPr lvl="0"/>
            <a:r>
              <a:rPr b="1"/>
              <a:t>No es due diligence legal</a:t>
            </a:r>
            <a:r>
              <a:rPr/>
              <a:t> ni recomendación automática de inversión.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Resultados del caso final: plan, valor y veredicto trazables a un solo YAML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Instancia: </a:t>
            </a:r>
            <a:r>
              <a:rPr>
                <a:latin typeface="Courier"/>
              </a:rPr>
              <a:t>configs/gold/gold-b2b-saas.yaml</a:t>
            </a:r>
            <a:r>
              <a:rPr/>
              <a:t> — ejecución: </a:t>
            </a:r>
            <a:r>
              <a:rPr>
                <a:latin typeface="Courier"/>
              </a:rPr>
              <a:t>outputs/executions/run_20260706-045427_28a63258</a:t>
            </a:r>
          </a:p>
          <a:p>
            <a:pPr lvl="0"/>
            <a:r>
              <a:rPr/>
              <a:t>VAN (DCF): </a:t>
            </a:r>
            <a:r>
              <a:rPr>
                <a:latin typeface="Courier"/>
              </a:rPr>
              <a:t>USD 4,583,212</a:t>
            </a:r>
          </a:p>
          <a:p>
            <a:pPr lvl="0"/>
            <a:r>
              <a:rPr/>
              <a:t>Ingresos año 3: </a:t>
            </a:r>
            <a:r>
              <a:rPr>
                <a:latin typeface="Courier"/>
              </a:rPr>
              <a:t>USD 4,503,277</a:t>
            </a:r>
            <a:r>
              <a:rPr/>
              <a:t> — EBITDA año 3: </a:t>
            </a:r>
            <a:r>
              <a:rPr>
                <a:latin typeface="Courier"/>
              </a:rPr>
              <a:t>USD 3,557,712</a:t>
            </a:r>
          </a:p>
          <a:p>
            <a:pPr lvl="0"/>
            <a:r>
              <a:rPr/>
              <a:t>Veredicto DD: </a:t>
            </a:r>
            <a:r>
              <a:rPr>
                <a:latin typeface="Courier"/>
              </a:rPr>
              <a:t>passed_with_warnings</a:t>
            </a:r>
          </a:p>
          <a:p>
            <a:pPr lvl="0" indent="0" marL="0">
              <a:buNone/>
            </a:pPr>
            <a:r>
              <a:rPr i="1"/>
              <a:t>Resultados condicionales a supuestos declarados; no es predicción de mercado.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 UI es una capa de consulta: los artefactos son la fuente de verdad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Demo:</a:t>
            </a:r>
            <a:r>
              <a:rPr/>
              <a:t> seleccionar ejecución → informe ejecutivo → plan de crecimiento → valoración → DD → robustez → artefactos</a:t>
            </a:r>
          </a:p>
          <a:p>
            <a:pPr lvl="0"/>
            <a:r>
              <a:rPr/>
              <a:t>Gestión de instancias y ejecuciones desde Streamlit.</a:t>
            </a:r>
          </a:p>
          <a:p>
            <a:pPr lvl="0"/>
            <a:r>
              <a:rPr/>
              <a:t>Fuente de verdad: </a:t>
            </a:r>
            <a:r>
              <a:rPr>
                <a:latin typeface="Courier"/>
              </a:rPr>
              <a:t>outputs/executions/&lt;run&gt;/</a:t>
            </a:r>
            <a:r>
              <a:rPr/>
              <a:t>, no widgets.</a:t>
            </a:r>
          </a:p>
          <a:p>
            <a:pPr lvl="0"/>
            <a:r>
              <a:rPr/>
              <a:t>Reporte HTML descargable por corrida.</a:t>
            </a:r>
          </a:p>
          <a:p>
            <a:pPr lvl="0" indent="0" marL="0">
              <a:buNone/>
            </a:pPr>
            <a:r>
              <a:rPr/>
              <a:t>Screenshot: </a:t>
            </a:r>
            <a:r>
              <a:rPr>
                <a:latin typeface="Courier"/>
              </a:rPr>
              <a:t>[PENDIENTE: capturar screenshot UI — sugerido docs/defense_audit/assets/ui_informe_ejecutivo.png]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Validación: el sistema diagnostica, incluso cuando el caso es malo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Tests: </a:t>
            </a:r>
            <a:r>
              <a:rPr>
                <a:latin typeface="Courier"/>
              </a:rPr>
              <a:t>uv run pytest -q</a:t>
            </a:r>
            <a:r>
              <a:rPr/>
              <a:t> → </a:t>
            </a:r>
            <a:r>
              <a:rPr b="1"/>
              <a:t>186 passed, 3 skipped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Caso benchmark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VAN 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Ingresos Y3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Veredicto DD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godemos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942.635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1.038.995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requires_minor_adjustment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entrena-en-casa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−69.622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304.266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requires_major_adjustment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beloop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1.973.394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2.618.430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passed_with_warnings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kavacomex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−416.453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217.140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requires_major_adjustment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Benchmark identifica brechas y soporta calibración; no es validación universal.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Aporte: una metodología experta convertida en pipeline defendible y auditable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Contribuciones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Limitaciones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Roadmap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Pipeline reproducible YAML→artefactos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MVP local, no SaaS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API/SaaS, DB, jobs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DD como gate metodológico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DD financiero, no legal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Calibración con datos externos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 oficial determinista target-driven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Múltiplos de referencia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Recourse estocástico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Trazabilidad supuesto→resultado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Benchmark acotado (4 casos)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Más casos de calibración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Herramienta para mejor juicio experto, no sustituto.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2026-07-06T09:28:26Z</dcterms:created>
  <dcterms:modified xsi:type="dcterms:W3CDTF">2026-07-06T09:28:26Z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paginate">
    <vt:lpwstr>True</vt:lpwstr>
  </property>
  <property fmtid="{D5CDD505-2E9C-101B-9397-08002B2CF9AE}" pid="4" name="style">
    <vt:lpwstr>section { font-family: Georgia, ‘Times New Roman’, serif; background: #FBFAF7; color: #1E1E1E; padding: 56px 64px; } h1 { font-size: 1.45em; color: #1F6F8B; } h2 { font-size: 1.05em; color: #6B6B6B; font-weight: normal; } code { font-family: ‘SF Mono’, Menlo, monospace; font-size: 0.85em; color: #444; } table { font-size: 0.72em; } th { background: #EFEDE8; } strong { color: #7A1F1F; } footer { color: #9A9A9A; font-size: 0.55em; }</vt:lpwstr>
  </property>
  <property fmtid="{D5CDD505-2E9C-101B-9397-08002B2CF9AE}" pid="5" name="theme">
    <vt:lpwstr>default</vt:lpwstr>
  </property>
</Properties>
</file>